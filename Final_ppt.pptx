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2.xml"/>
  <Override ContentType="application/vnd.openxmlformats-officedocument.theme+xml" PartName="/ppt/theme/theme1.xml"/>
  <Override ContentType="application/vnd.openxmlformats-officedocument.presentationml.tags+xml" PartName="/ppt/tags/tag2.xml"/>
  <Override ContentType="application/vnd.openxmlformats-officedocument.presentationml.viewProps+xml" PartName="/ppt/viewProps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9144000"/>
  <p:notesSz cx="6858000" cy="9144000"/>
  <p:custDataLst>
    <p:tags r:id="rId20"/>
  </p:custDataLst>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2.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2.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tags" Target="tags/tag2.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2.xml"/><Relationship Id="rId3" Type="http://schemas.openxmlformats.org/officeDocument/2006/relationships/presProps" Target="presProps2.xml"/><Relationship Id="rId4" Type="http://schemas.openxmlformats.org/officeDocument/2006/relationships/slideMaster" Target="slideMasters/slide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fld id="{EF9BAF92-0A2C-4D22-AF46-80A9BF79D367}" type="datetimeFigureOut">
              <a:rPr lang="en-US" smtClean="0"/>
              <a:t>9/3/2024</a:t>
            </a:fld>
            <a:endParaRPr lang="en-IN"/>
          </a:p>
        </p:txBody>
      </p:sp>
      <p:sp>
        <p:nvSpPr>
          <p:cNvPr id="20" name="Footer Placeholder 19"/>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5A96A413-FE7F-41A7-AAF9-7F4BF33BF0FC}" type="slidenum">
              <a:rPr lang="en-IN" smtClean="0"/>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9BAF92-0A2C-4D22-AF46-80A9BF79D367}" type="datetimeFigureOut">
              <a:rPr lang="en-US" smtClean="0"/>
              <a:t>9/3/2024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F9BAF92-0A2C-4D22-AF46-80A9BF79D367}" type="datetimeFigureOut">
              <a:rPr lang="en-US" smtClean="0"/>
              <a:t>9/3/2024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9BAF92-0A2C-4D22-AF46-80A9BF79D367}" type="datetimeFigureOut">
              <a:rPr lang="en-US" smtClean="0"/>
              <a:t>9/3/2024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F9BAF92-0A2C-4D22-AF46-80A9BF79D367}" type="datetimeFigureOut">
              <a:rPr lang="en-US" smtClean="0"/>
              <a:t>9/3/2024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EF9BAF92-0A2C-4D22-AF46-80A9BF79D367}" type="datetimeFigureOut">
              <a:rPr lang="en-US" smtClean="0"/>
              <a:t>9/3/2024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EF9BAF92-0A2C-4D22-AF46-80A9BF79D367}" type="datetimeFigureOut">
              <a:rPr lang="en-US" smtClean="0"/>
              <a:t>9/3/2024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96A413-FE7F-41A7-AAF9-7F4BF33BF0FC}" type="slidenum">
              <a:rPr lang="en-IN" smtClean="0"/>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9BAF92-0A2C-4D22-AF46-80A9BF79D367}" type="datetimeFigureOut">
              <a:rPr lang="en-US" smtClean="0"/>
              <a:t>9/3/2024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fld id="{EF9BAF92-0A2C-4D22-AF46-80A9BF79D367}" type="datetimeFigureOut">
              <a:rPr lang="en-US" smtClean="0"/>
              <a:t>9/3/2024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6A413-FE7F-41A7-AAF9-7F4BF33BF0FC}" type="slidenum">
              <a:rPr lang="en-IN" smtClean="0"/>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9BAF92-0A2C-4D22-AF46-80A9BF79D367}" type="datetimeFigureOut">
              <a:rPr lang="en-US" smtClean="0"/>
              <a:t>9/3/2024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9BAF92-0A2C-4D22-AF46-80A9BF79D367}" type="datetimeFigureOut">
              <a:rPr lang="en-US" smtClean="0"/>
              <a:t>9/3/2024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6A413-FE7F-41A7-AAF9-7F4BF33BF0F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EF9BAF92-0A2C-4D22-AF46-80A9BF79D367}" type="datetimeFigureOut">
              <a:rPr lang="en-US" smtClean="0"/>
              <a:t>9/3/2024</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5A96A413-FE7F-41A7-AAF9-7F4BF33BF0FC}" type="slidenum">
              <a:rPr lang="en-IN" smtClean="0"/>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ph type="ctrTitle"/>
          </p:nvPr>
        </p:nvSpPr>
        <p:spPr>
          <a:xfrm>
            <a:off x="1547664" y="1340768"/>
            <a:ext cx="7772400" cy="1535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562214"/>
              </a:buClr>
              <a:buSzPts val="4000"/>
              <a:buFont typeface="Arial"/>
              <a:buNone/>
            </a:pPr>
            <a:r>
              <a:rPr lang="en-US" sz="4000">
                <a:latin typeface="Arial"/>
                <a:ea typeface="Arial"/>
                <a:cs typeface="Arial"/>
                <a:sym typeface="Arial"/>
              </a:rPr>
              <a:t>AI BASED SCARECROW AND ANIMAL DETECTION</a:t>
            </a:r>
            <a:endParaRPr sz="4000">
              <a:solidFill>
                <a:schemeClr val="lt1"/>
              </a:solidFill>
              <a:latin typeface="Arial"/>
              <a:ea typeface="Arial"/>
              <a:cs typeface="Arial"/>
              <a:sym typeface="Arial"/>
            </a:endParaRPr>
          </a:p>
        </p:txBody>
      </p:sp>
      <p:sp>
        <p:nvSpPr>
          <p:cNvPr id="28" name="Google Shape;28;p1"/>
          <p:cNvSpPr txBox="1"/>
          <p:nvPr/>
        </p:nvSpPr>
        <p:spPr>
          <a:xfrm>
            <a:off x="1013247" y="3302407"/>
            <a:ext cx="7117500" cy="3555600"/>
          </a:xfrm>
          <a:prstGeom prst="rect">
            <a:avLst/>
          </a:prstGeom>
          <a:noFill/>
          <a:ln>
            <a:noFill/>
          </a:ln>
        </p:spPr>
        <p:txBody>
          <a:bodyPr anchorCtr="0" anchor="t" bIns="45700" lIns="91425" spcFirstLastPara="1" rIns="91425" wrap="square" tIns="45700">
            <a:spAutoFit/>
          </a:bodyPr>
          <a:lstStyle/>
          <a:p>
            <a:pPr indent="0" lvl="0" marL="82550" marR="0" rtl="0" algn="l">
              <a:spcBef>
                <a:spcPts val="0"/>
              </a:spcBef>
              <a:spcAft>
                <a:spcPts val="0"/>
              </a:spcAft>
              <a:buClr>
                <a:schemeClr val="dk1"/>
              </a:buClr>
              <a:buSzPts val="2800"/>
              <a:buFont typeface="Gill Sans"/>
              <a:buNone/>
            </a:pPr>
            <a:r>
              <a:t/>
            </a:r>
            <a:endParaRPr b="0" i="0" sz="2800" u="none" cap="none" strike="noStrike">
              <a:solidFill>
                <a:schemeClr val="dk1"/>
              </a:solidFill>
              <a:latin typeface="Times New Roman"/>
              <a:ea typeface="Times New Roman"/>
              <a:cs typeface="Times New Roman"/>
              <a:sym typeface="Times New Roman"/>
            </a:endParaRPr>
          </a:p>
          <a:p>
            <a:pPr indent="0" lvl="0" marL="82550" marR="0" rtl="0" algn="l">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Under the Guidance of  :  </a:t>
            </a:r>
            <a:r>
              <a:rPr b="0" i="0" lang="en-US" sz="2800" u="none" cap="none" strike="noStrike">
                <a:solidFill>
                  <a:schemeClr val="dk1"/>
                </a:solidFill>
                <a:latin typeface="Times New Roman"/>
                <a:ea typeface="Times New Roman"/>
                <a:cs typeface="Times New Roman"/>
                <a:sym typeface="Times New Roman"/>
              </a:rPr>
              <a:t>Mrs. V. Sravanthi</a:t>
            </a:r>
            <a:endParaRPr b="0" i="0" sz="2800" u="none" cap="none" strike="noStrike">
              <a:solidFill>
                <a:schemeClr val="dk1"/>
              </a:solidFill>
              <a:latin typeface="Times New Roman"/>
              <a:ea typeface="Times New Roman"/>
              <a:cs typeface="Times New Roman"/>
              <a:sym typeface="Times New Roman"/>
            </a:endParaRPr>
          </a:p>
          <a:p>
            <a:pPr indent="0" lvl="0" marL="82550" marR="0" rtl="0" algn="l">
              <a:spcBef>
                <a:spcPts val="0"/>
              </a:spcBef>
              <a:spcAft>
                <a:spcPts val="0"/>
              </a:spcAft>
              <a:buClr>
                <a:schemeClr val="dk1"/>
              </a:buClr>
              <a:buSzPts val="2800"/>
              <a:buFont typeface="Gill Sans"/>
              <a:buNone/>
            </a:pPr>
            <a:r>
              <a:t/>
            </a:r>
            <a:endParaRPr b="1" i="0" sz="2800" u="none" cap="none" strike="noStrike">
              <a:solidFill>
                <a:schemeClr val="dk1"/>
              </a:solidFill>
              <a:latin typeface="Times New Roman"/>
              <a:ea typeface="Times New Roman"/>
              <a:cs typeface="Times New Roman"/>
              <a:sym typeface="Times New Roman"/>
            </a:endParaRPr>
          </a:p>
          <a:p>
            <a:pPr indent="0" lvl="0" marL="82550" marR="0" rtl="0" algn="l">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Team Details :</a:t>
            </a:r>
            <a:endParaRPr b="1" i="0" sz="2800" u="none" cap="none" strike="noStrike">
              <a:solidFill>
                <a:schemeClr val="dk1"/>
              </a:solidFill>
              <a:latin typeface="Times New Roman"/>
              <a:ea typeface="Times New Roman"/>
              <a:cs typeface="Times New Roman"/>
              <a:sym typeface="Times New Roman"/>
            </a:endParaRPr>
          </a:p>
          <a:p>
            <a:pPr indent="0" lvl="0" marL="82550" marR="0" rtl="0" algn="l">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Lavudya Revanth (21R11A05H4) </a:t>
            </a:r>
            <a:endParaRPr/>
          </a:p>
          <a:p>
            <a:pPr indent="0" lvl="0" marL="82550" marR="0" rtl="0" algn="l">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Sende Sai Kumar (21R11A05K6) </a:t>
            </a:r>
            <a:endParaRPr/>
          </a:p>
          <a:p>
            <a:pPr indent="0" lvl="0" marL="82550" marR="0" rtl="0" algn="l">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Gujja Mokshith (21R11A05G5)</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CONTENTS</a:t>
            </a:r>
          </a:p>
        </p:txBody>
      </p:sp>
      <p:sp>
        <p:nvSpPr>
          <p:cNvPr id="3" name="Content Placeholder 2"/>
          <p:cNvSpPr>
            <a:spLocks noGrp="1"/>
          </p:cNvSpPr>
          <p:nvPr>
            <p:ph idx="1"/>
          </p:nvPr>
        </p:nvSpPr>
        <p:spPr/>
        <p:txBody>
          <a:bodyPr>
            <a:normAutofit/>
          </a:bodyPr>
          <a:lstStyle/>
          <a:p>
            <a:pPr marL="596900" indent="-514350">
              <a:buAutoNum type="arabicPeriod"/>
            </a:pPr>
            <a:r>
              <a:rPr lang="en-IN" dirty="0">
                <a:latin typeface="Times New Roman" panose="02020603050405020304" pitchFamily="18" charset="0"/>
                <a:cs typeface="Times New Roman" panose="02020603050405020304" pitchFamily="18" charset="0"/>
              </a:rPr>
              <a:t>Abstract</a:t>
            </a:r>
          </a:p>
          <a:p>
            <a:pPr marL="596900" indent="-514350">
              <a:buAutoNum type="arabicPeriod"/>
            </a:pPr>
            <a:r>
              <a:rPr lang="en-IN" dirty="0">
                <a:latin typeface="Times New Roman" panose="02020603050405020304" pitchFamily="18" charset="0"/>
                <a:cs typeface="Times New Roman" panose="02020603050405020304" pitchFamily="18" charset="0"/>
              </a:rPr>
              <a:t>Existing System And Proposed System</a:t>
            </a:r>
          </a:p>
          <a:p>
            <a:pPr marL="596900" indent="-514350">
              <a:buAutoNum type="arabicPeriod"/>
            </a:pPr>
            <a:r>
              <a:rPr lang="en-IN" dirty="0">
                <a:latin typeface="Times New Roman" panose="02020603050405020304" pitchFamily="18" charset="0"/>
                <a:cs typeface="Times New Roman" panose="02020603050405020304" pitchFamily="18" charset="0"/>
              </a:rPr>
              <a:t>System Configuration</a:t>
            </a:r>
          </a:p>
          <a:p>
            <a:pPr marL="596900" indent="-514350">
              <a:buAutoNum type="arabicPeriod"/>
            </a:pPr>
            <a:r>
              <a:rPr lang="en-IN" dirty="0">
                <a:latin typeface="Times New Roman" panose="02020603050405020304" pitchFamily="18" charset="0"/>
                <a:cs typeface="Times New Roman" panose="02020603050405020304" pitchFamily="18" charset="0"/>
              </a:rPr>
              <a:t>System Architecture</a:t>
            </a:r>
          </a:p>
          <a:p>
            <a:pPr marL="596900" indent="-514350">
              <a:buAutoNum type="arabicPeriod"/>
            </a:pPr>
            <a:r>
              <a:rPr lang="en-IN" dirty="0">
                <a:latin typeface="Times New Roman" panose="02020603050405020304" pitchFamily="18" charset="0"/>
                <a:cs typeface="Times New Roman" panose="02020603050405020304" pitchFamily="18" charset="0"/>
              </a:rPr>
              <a:t>Modules</a:t>
            </a:r>
          </a:p>
          <a:p>
            <a:pPr marL="596900" indent="-514350">
              <a:buAutoNum type="arabicPeriod"/>
            </a:pPr>
            <a:r>
              <a:rPr lang="en-US" altLang="en-IN" dirty="0">
                <a:latin typeface="Times New Roman" panose="02020603050405020304" pitchFamily="18" charset="0"/>
                <a:cs typeface="Times New Roman" panose="02020603050405020304" pitchFamily="18" charset="0"/>
              </a:rPr>
              <a:t>Screenshots</a:t>
            </a:r>
          </a:p>
          <a:p>
            <a:pPr marL="596900" indent="-514350">
              <a:buAutoNum type="arabicPeriod"/>
            </a:pPr>
            <a:r>
              <a:rPr lang="en-US" altLang="en-IN" dirty="0">
                <a:latin typeface="Times New Roman" panose="02020603050405020304" pitchFamily="18" charset="0"/>
                <a:cs typeface="Times New Roman" panose="02020603050405020304" pitchFamily="18" charset="0"/>
              </a:rPr>
              <a:t>Pros and Cons</a:t>
            </a:r>
          </a:p>
          <a:p>
            <a:pPr marL="596900" indent="-514350">
              <a:buAutoNum type="arabicPeriod"/>
            </a:pPr>
            <a:r>
              <a:rPr lang="en-IN" dirty="0">
                <a:latin typeface="Times New Roman" panose="02020603050405020304" pitchFamily="18" charset="0"/>
                <a:cs typeface="Times New Roman" panose="02020603050405020304" pitchFamily="18" charset="0"/>
                <a:sym typeface="+mn-ea"/>
              </a:rPr>
              <a:t>Conclusion</a:t>
            </a:r>
            <a:endParaRPr lang="en-IN" dirty="0">
              <a:latin typeface="Times New Roman" panose="02020603050405020304" pitchFamily="18" charset="0"/>
              <a:cs typeface="Times New Roman" panose="02020603050405020304" pitchFamily="18" charset="0"/>
            </a:endParaRPr>
          </a:p>
          <a:p>
            <a:pPr marL="82550" indent="0">
              <a:buNone/>
            </a:pPr>
            <a:endParaRPr lang="en-IN" dirty="0">
              <a:latin typeface="Times New Roman" panose="02020603050405020304" pitchFamily="18" charset="0"/>
              <a:cs typeface="Times New Roman" panose="02020603050405020304" pitchFamily="18" charset="0"/>
            </a:endParaRPr>
          </a:p>
          <a:p>
            <a:pPr marL="596900" indent="-514350">
              <a:buAutoNum type="arabicPeriod"/>
            </a:pPr>
            <a:endParaRPr lang="en-IN" dirty="0">
              <a:latin typeface="Times New Roman" panose="02020603050405020304" pitchFamily="18" charset="0"/>
              <a:cs typeface="Times New Roman" panose="02020603050405020304" pitchFamily="18" charset="0"/>
            </a:endParaRPr>
          </a:p>
          <a:p>
            <a:pPr marL="596900" indent="-514350">
              <a:buAutoNum type="arabicPeriod"/>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Abstract</a:t>
            </a:r>
          </a:p>
        </p:txBody>
      </p:sp>
      <p:sp>
        <p:nvSpPr>
          <p:cNvPr id="3" name="Content Placeholder 2"/>
          <p:cNvSpPr>
            <a:spLocks noGrp="1"/>
          </p:cNvSpPr>
          <p:nvPr>
            <p:ph idx="1"/>
          </p:nvPr>
        </p:nvSpPr>
        <p:spPr/>
        <p:txBody>
          <a:bodyPr>
            <a:noAutofit/>
          </a:bodyPr>
          <a:lstStyle/>
          <a:p>
            <a:pPr marL="82550" indent="0" algn="just">
              <a:buNone/>
            </a:pPr>
            <a:r>
              <a:rPr lang="en-US" sz="2400" dirty="0">
                <a:latin typeface="Times New Roman" panose="02020603050405020304" pitchFamily="18" charset="0"/>
                <a:cs typeface="Times New Roman" panose="02020603050405020304" pitchFamily="18" charset="0"/>
              </a:rPr>
              <a:t>Crop damage caused by animal attacks is a significant threat to farmers, as crops are often damaged by local animals like buffaloes, cows, goats, and birds. Traditional methods like physical barriers, electric fences, and scarecrows are often ineffective or impractical for 24/7 protection. To address this, we propose an AI-based scarecrow system that uses cameras and machine learning to detect stray animals or birds. Utilizing YOLOv3 and CV2 modules, the system identifies these threats in real-time, produces deterrent sounds, and sends alerts to farmers, ensuring comprehensive crop protection.</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Existing System</a:t>
            </a:r>
          </a:p>
        </p:txBody>
      </p:sp>
      <p:sp>
        <p:nvSpPr>
          <p:cNvPr id="3" name="Content Placeholder 2"/>
          <p:cNvSpPr>
            <a:spLocks noGrp="1"/>
          </p:cNvSpPr>
          <p:nvPr>
            <p:ph idx="1"/>
          </p:nvPr>
        </p:nvSpPr>
        <p:spPr/>
        <p:txBody>
          <a:bodyPr>
            <a:noAutofit/>
          </a:bodyPr>
          <a:lstStyle/>
          <a:p>
            <a:pPr marL="82550" indent="0" algn="just">
              <a:buNone/>
            </a:pPr>
            <a:r>
              <a:rPr lang="en-US" sz="2000" dirty="0">
                <a:latin typeface="Times New Roman" panose="02020603050405020304" pitchFamily="18" charset="0"/>
                <a:cs typeface="Times New Roman" panose="02020603050405020304" pitchFamily="18" charset="0"/>
              </a:rPr>
              <a:t>Manual methods like constructing fences and using natural repellents can be effective but are often not cost-efficient or feasible due to labor constraints. Initial projects used hardware solutions like cameras interfaced with Raspberry Pi and Arduino systems to detect animals and send alerts. However, these systems are expensive and require significant maintenance. Recent research is focusing on using Artificial Intelligence to automate animal detection and response, reducing costs and improving efficiency in protecting crops.</a:t>
            </a:r>
          </a:p>
          <a:p>
            <a:pPr marL="82550" indent="0" algn="just">
              <a:buNone/>
            </a:pPr>
            <a:endParaRPr lang="en-US" sz="2000" dirty="0">
              <a:latin typeface="Times New Roman" panose="02020603050405020304" pitchFamily="18" charset="0"/>
              <a:cs typeface="Times New Roman" panose="02020603050405020304" pitchFamily="18" charset="0"/>
            </a:endParaRPr>
          </a:p>
          <a:p>
            <a:pPr marL="82550" indent="0" algn="just">
              <a:buNone/>
            </a:pPr>
            <a:r>
              <a:rPr lang="en-US" sz="2000" b="1" dirty="0">
                <a:latin typeface="Times New Roman" panose="02020603050405020304" pitchFamily="18" charset="0"/>
                <a:cs typeface="Times New Roman" panose="02020603050405020304" pitchFamily="18" charset="0"/>
              </a:rPr>
              <a:t>Limitations of Existing System </a:t>
            </a:r>
          </a:p>
          <a:p>
            <a:pPr marL="311150" indent="-228600" algn="just">
              <a:buAutoNum type="arabicPeriod"/>
            </a:pPr>
            <a:r>
              <a:rPr lang="en-US" sz="2000" dirty="0">
                <a:latin typeface="Times New Roman" panose="02020603050405020304" pitchFamily="18" charset="0"/>
                <a:cs typeface="Times New Roman" panose="02020603050405020304" pitchFamily="18" charset="0"/>
              </a:rPr>
              <a:t>Electric fences are dangerous to animals and humans.</a:t>
            </a:r>
          </a:p>
          <a:p>
            <a:pPr marL="311150" indent="-228600" algn="just">
              <a:buAutoNum type="arabicPeriod"/>
            </a:pPr>
            <a:r>
              <a:rPr lang="en-US" sz="2000" dirty="0">
                <a:latin typeface="Times New Roman" panose="02020603050405020304" pitchFamily="18" charset="0"/>
                <a:cs typeface="Times New Roman" panose="02020603050405020304" pitchFamily="18" charset="0"/>
              </a:rPr>
              <a:t>IOT based Sensor monitoring doesn’t provide accurate results.</a:t>
            </a:r>
            <a:endParaRPr lang="en-US" alt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System</a:t>
            </a:r>
          </a:p>
        </p:txBody>
      </p:sp>
      <p:sp>
        <p:nvSpPr>
          <p:cNvPr id="3" name="Content Placeholder 2"/>
          <p:cNvSpPr>
            <a:spLocks noGrp="1"/>
          </p:cNvSpPr>
          <p:nvPr>
            <p:ph idx="1"/>
          </p:nvPr>
        </p:nvSpPr>
        <p:spPr/>
        <p:txBody>
          <a:bodyPr>
            <a:noAutofit/>
          </a:bodyPr>
          <a:lstStyle/>
          <a:p>
            <a:pPr marL="82550" indent="0">
              <a:buNone/>
            </a:pPr>
            <a:r>
              <a:rPr lang="en-US" sz="1800" b="1" dirty="0">
                <a:latin typeface="Times New Roman" panose="02020603050405020304" pitchFamily="18" charset="0"/>
                <a:cs typeface="Times New Roman" panose="02020603050405020304" pitchFamily="18" charset="0"/>
              </a:rPr>
              <a:t>Real-Time Animal Detection: </a:t>
            </a:r>
            <a:r>
              <a:rPr lang="en-US" sz="1800" dirty="0">
                <a:latin typeface="Times New Roman" panose="02020603050405020304" pitchFamily="18" charset="0"/>
                <a:cs typeface="Times New Roman" panose="02020603050405020304" pitchFamily="18" charset="0"/>
              </a:rPr>
              <a:t>The AI-Based Scarecrow uses the YOLOv3 algorithm and OpenCV's cv2 module to scan live video feeds, detect animals entering crop fields, and classify them accurately with the help of the COCO names dataset.</a:t>
            </a:r>
          </a:p>
          <a:p>
            <a:pPr marL="82550" indent="0">
              <a:buNone/>
            </a:pPr>
            <a:endParaRPr lang="en-US" sz="1800" b="1" dirty="0">
              <a:latin typeface="Times New Roman" panose="02020603050405020304" pitchFamily="18" charset="0"/>
              <a:cs typeface="Times New Roman" panose="02020603050405020304" pitchFamily="18" charset="0"/>
            </a:endParaRPr>
          </a:p>
          <a:p>
            <a:pPr marL="82550" indent="0">
              <a:buNone/>
            </a:pPr>
            <a:r>
              <a:rPr lang="en-US" sz="1800" b="1" dirty="0">
                <a:latin typeface="Times New Roman" panose="02020603050405020304" pitchFamily="18" charset="0"/>
                <a:cs typeface="Times New Roman" panose="02020603050405020304" pitchFamily="18" charset="0"/>
              </a:rPr>
              <a:t>Automated Response System and Alert system</a:t>
            </a:r>
            <a:r>
              <a:rPr lang="en-US" sz="1800" dirty="0">
                <a:latin typeface="Times New Roman" panose="02020603050405020304" pitchFamily="18" charset="0"/>
                <a:cs typeface="Times New Roman" panose="02020603050405020304" pitchFamily="18" charset="0"/>
              </a:rPr>
              <a:t>: Upon detecting an animal, the system plays a specific deterrent sound tailored to the type of animal identified, and sends an alert to farmers.</a:t>
            </a:r>
          </a:p>
          <a:p>
            <a:pPr marL="82550" indent="0">
              <a:buNone/>
            </a:pPr>
            <a:endParaRPr lang="en-US" sz="1800" dirty="0">
              <a:latin typeface="Times New Roman" panose="02020603050405020304" pitchFamily="18" charset="0"/>
              <a:cs typeface="Times New Roman" panose="02020603050405020304" pitchFamily="18" charset="0"/>
            </a:endParaRPr>
          </a:p>
          <a:p>
            <a:pPr marL="82550" indent="0">
              <a:buNone/>
            </a:pPr>
            <a:r>
              <a:rPr lang="en-US" sz="1800" b="1" dirty="0">
                <a:latin typeface="Times New Roman" panose="02020603050405020304" pitchFamily="18" charset="0"/>
                <a:cs typeface="Times New Roman" panose="02020603050405020304" pitchFamily="18" charset="0"/>
              </a:rPr>
              <a:t>Advanced Crop Protection: </a:t>
            </a:r>
            <a:r>
              <a:rPr lang="en-US" sz="1800" dirty="0">
                <a:latin typeface="Times New Roman" panose="02020603050405020304" pitchFamily="18" charset="0"/>
                <a:cs typeface="Times New Roman" panose="02020603050405020304" pitchFamily="18" charset="0"/>
              </a:rPr>
              <a:t>This innovative system offers a more dynamic and automated approach compared to traditional methods, providing real-time monitoring and responses, reducing the need for manual surveillance, and adapting to various farm environments.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Configuration</a:t>
            </a:r>
          </a:p>
        </p:txBody>
      </p:sp>
      <p:sp>
        <p:nvSpPr>
          <p:cNvPr id="3" name="Content Placeholder 2"/>
          <p:cNvSpPr>
            <a:spLocks noGrp="1"/>
          </p:cNvSpPr>
          <p:nvPr>
            <p:ph idx="1"/>
          </p:nvPr>
        </p:nvSpPr>
        <p:spPr/>
        <p:txBody>
          <a:bodyPr>
            <a:normAutofit/>
          </a:bodyPr>
          <a:lstStyle/>
          <a:p>
            <a:pPr>
              <a:buNone/>
            </a:pPr>
            <a:r>
              <a:rPr lang="en-IN"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Operating System 8 or above.</a:t>
            </a:r>
          </a:p>
          <a:p>
            <a:r>
              <a:rPr lang="en-IN" sz="2000" dirty="0">
                <a:latin typeface="Times New Roman" panose="02020603050405020304" pitchFamily="18" charset="0"/>
                <a:cs typeface="Times New Roman" panose="02020603050405020304" pitchFamily="18" charset="0"/>
              </a:rPr>
              <a:t>Front-End Technologies HTML, CSS, JavaScript</a:t>
            </a:r>
          </a:p>
          <a:p>
            <a:r>
              <a:rPr lang="en-IN" sz="2000" dirty="0">
                <a:latin typeface="Times New Roman" panose="02020603050405020304" pitchFamily="18" charset="0"/>
                <a:cs typeface="Times New Roman" panose="02020603050405020304" pitchFamily="18" charset="0"/>
              </a:rPr>
              <a:t>Frameworks Bootstrap for responsive design, Animate.css for animations.</a:t>
            </a:r>
          </a:p>
          <a:p>
            <a:r>
              <a:rPr lang="en-IN" sz="2000" dirty="0">
                <a:latin typeface="Times New Roman" panose="02020603050405020304" pitchFamily="18" charset="0"/>
                <a:cs typeface="Times New Roman" panose="02020603050405020304" pitchFamily="18" charset="0"/>
              </a:rPr>
              <a:t>Back-End Technologies Programming Language (Python.)</a:t>
            </a:r>
          </a:p>
          <a:p>
            <a:pPr lvl="0">
              <a:buNone/>
            </a:pPr>
            <a:endParaRPr lang="en-IN" dirty="0">
              <a:latin typeface="Times New Roman" panose="02020603050405020304" pitchFamily="18" charset="0"/>
              <a:cs typeface="Times New Roman" panose="02020603050405020304" pitchFamily="18" charset="0"/>
            </a:endParaRPr>
          </a:p>
          <a:p>
            <a:pPr lvl="0">
              <a:buNone/>
            </a:pPr>
            <a:r>
              <a:rPr lang="en-IN"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Processor Basic</a:t>
            </a:r>
          </a:p>
          <a:p>
            <a:r>
              <a:rPr lang="en-IN" sz="2000" dirty="0">
                <a:latin typeface="Times New Roman" panose="02020603050405020304" pitchFamily="18" charset="0"/>
                <a:cs typeface="Times New Roman" panose="02020603050405020304" pitchFamily="18" charset="0"/>
              </a:rPr>
              <a:t>Memory (RAM) Minimum 4 GB.</a:t>
            </a:r>
          </a:p>
          <a:p>
            <a:r>
              <a:rPr lang="en-IN" sz="2000" dirty="0">
                <a:latin typeface="Times New Roman" panose="02020603050405020304" pitchFamily="18" charset="0"/>
                <a:cs typeface="Times New Roman" panose="02020603050405020304" pitchFamily="18" charset="0"/>
              </a:rPr>
              <a:t>Network High-speed internet connection</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F2509-39FB-09FD-64C7-5BAF3C9D728B}"/>
              </a:ext>
            </a:extLst>
          </p:cNvPr>
          <p:cNvSpPr>
            <a:spLocks noGrp="1"/>
          </p:cNvSpPr>
          <p:nvPr>
            <p:ph type="title"/>
          </p:nvPr>
        </p:nvSpPr>
        <p:spPr/>
        <p:txBody>
          <a:bodyPr/>
          <a:lstStyle/>
          <a:p>
            <a:r>
              <a:rPr lang="en-US" dirty="0"/>
              <a:t>Architecture</a:t>
            </a:r>
            <a:endParaRPr lang="en-IN" dirty="0"/>
          </a:p>
        </p:txBody>
      </p:sp>
      <p:pic>
        <p:nvPicPr>
          <p:cNvPr id="5" name="Content Placeholder 4">
            <a:extLst>
              <a:ext uri="{FF2B5EF4-FFF2-40B4-BE49-F238E27FC236}">
                <a16:creationId xmlns:a16="http://schemas.microsoft.com/office/drawing/2014/main" id="{B776B7F9-4AFD-B332-B94C-89902BF9C4AD}"/>
              </a:ext>
            </a:extLst>
          </p:cNvPr>
          <p:cNvPicPr>
            <a:picLocks noGrp="1" noChangeAspect="1"/>
          </p:cNvPicPr>
          <p:nvPr>
            <p:ph idx="1"/>
          </p:nvPr>
        </p:nvPicPr>
        <p:blipFill>
          <a:blip r:embed="rId2"/>
          <a:stretch>
            <a:fillRect/>
          </a:stretch>
        </p:blipFill>
        <p:spPr>
          <a:xfrm>
            <a:off x="1941060" y="1904729"/>
            <a:ext cx="6487430" cy="3886742"/>
          </a:xfrm>
        </p:spPr>
      </p:pic>
    </p:spTree>
    <p:extLst>
      <p:ext uri="{BB962C8B-B14F-4D97-AF65-F5344CB8AC3E}">
        <p14:creationId xmlns:p14="http://schemas.microsoft.com/office/powerpoint/2010/main" val="1815761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Modules</a:t>
            </a:r>
          </a:p>
        </p:txBody>
      </p:sp>
      <p:sp>
        <p:nvSpPr>
          <p:cNvPr id="3" name="Content Placeholder 2"/>
          <p:cNvSpPr>
            <a:spLocks noGrp="1"/>
          </p:cNvSpPr>
          <p:nvPr>
            <p:ph idx="1"/>
          </p:nvPr>
        </p:nvSpPr>
        <p:spPr/>
        <p:txBody>
          <a:bodyPr>
            <a:noAutofit/>
          </a:bodyPr>
          <a:lstStyle/>
          <a:p>
            <a:pPr marL="425450" indent="-342900">
              <a:buAutoNum type="arabicPeriod"/>
            </a:pPr>
            <a:endParaRPr lang="en-US" sz="1800" dirty="0">
              <a:latin typeface="Times New Roman" panose="02020603050405020304" pitchFamily="18" charset="0"/>
              <a:cs typeface="Times New Roman" panose="02020603050405020304" pitchFamily="18" charset="0"/>
            </a:endParaRPr>
          </a:p>
          <a:p>
            <a:pPr marL="425450" indent="-342900">
              <a:buAutoNum type="arabicPeriod"/>
            </a:pPr>
            <a:r>
              <a:rPr lang="en-US" sz="1800" b="1" dirty="0">
                <a:latin typeface="Times New Roman" panose="02020603050405020304" pitchFamily="18" charset="0"/>
                <a:cs typeface="Times New Roman" panose="02020603050405020304" pitchFamily="18" charset="0"/>
              </a:rPr>
              <a:t>User Authentication Module: </a:t>
            </a:r>
            <a:r>
              <a:rPr lang="en-US" sz="1800" dirty="0">
                <a:latin typeface="Times New Roman" panose="02020603050405020304" pitchFamily="18" charset="0"/>
                <a:cs typeface="Times New Roman" panose="02020603050405020304" pitchFamily="18" charset="0"/>
              </a:rPr>
              <a:t>Allows secure user registration and login with email verification, ensuring authenticated access to the application.</a:t>
            </a:r>
          </a:p>
          <a:p>
            <a:pPr marL="425450" indent="-342900">
              <a:buAutoNum type="arabicPeriod"/>
            </a:pPr>
            <a:endParaRPr lang="en-US" sz="1800" dirty="0">
              <a:latin typeface="Times New Roman" panose="02020603050405020304" pitchFamily="18" charset="0"/>
              <a:cs typeface="Times New Roman" panose="02020603050405020304" pitchFamily="18" charset="0"/>
            </a:endParaRPr>
          </a:p>
          <a:p>
            <a:pPr marL="425450" indent="-342900">
              <a:buAutoNum type="arabicPeriod"/>
            </a:pPr>
            <a:r>
              <a:rPr lang="en-US" sz="1800" b="1" dirty="0">
                <a:latin typeface="Times New Roman" panose="02020603050405020304" pitchFamily="18" charset="0"/>
                <a:cs typeface="Times New Roman" panose="02020603050405020304" pitchFamily="18" charset="0"/>
              </a:rPr>
              <a:t>Monitoring Module</a:t>
            </a:r>
            <a:r>
              <a:rPr lang="en-US" sz="1800" dirty="0">
                <a:latin typeface="Times New Roman" panose="02020603050405020304" pitchFamily="18" charset="0"/>
                <a:cs typeface="Times New Roman" panose="02020603050405020304" pitchFamily="18" charset="0"/>
              </a:rPr>
              <a:t>: Uses a camera to continuously record the farm, providing comprehensive surveillance and real-time monitoring.</a:t>
            </a:r>
          </a:p>
          <a:p>
            <a:pPr marL="425450" indent="-342900">
              <a:buAutoNum type="arabicPeriod"/>
            </a:pPr>
            <a:endParaRPr lang="en-US" sz="1800" dirty="0">
              <a:latin typeface="Times New Roman" panose="02020603050405020304" pitchFamily="18" charset="0"/>
              <a:cs typeface="Times New Roman" panose="02020603050405020304" pitchFamily="18" charset="0"/>
            </a:endParaRPr>
          </a:p>
          <a:p>
            <a:pPr marL="425450" indent="-342900">
              <a:buAutoNum type="arabicPeriod"/>
            </a:pPr>
            <a:r>
              <a:rPr lang="en-US" sz="1800" b="1" dirty="0">
                <a:latin typeface="Times New Roman" panose="02020603050405020304" pitchFamily="18" charset="0"/>
                <a:cs typeface="Times New Roman" panose="02020603050405020304" pitchFamily="18" charset="0"/>
              </a:rPr>
              <a:t>Detection Module: </a:t>
            </a:r>
            <a:r>
              <a:rPr lang="en-US" sz="1800" dirty="0">
                <a:latin typeface="Times New Roman" panose="02020603050405020304" pitchFamily="18" charset="0"/>
                <a:cs typeface="Times New Roman" panose="02020603050405020304" pitchFamily="18" charset="0"/>
              </a:rPr>
              <a:t>Utilizes the YOLOv3 algorithm for real-time animal detection in video feeds, identifying animals by analyzing frames against the </a:t>
            </a:r>
            <a:r>
              <a:rPr lang="en-US" sz="1800" dirty="0" err="1">
                <a:latin typeface="Times New Roman" panose="02020603050405020304" pitchFamily="18" charset="0"/>
                <a:cs typeface="Times New Roman" panose="02020603050405020304" pitchFamily="18" charset="0"/>
              </a:rPr>
              <a:t>coco.names</a:t>
            </a:r>
            <a:r>
              <a:rPr lang="en-US" sz="1800" dirty="0">
                <a:latin typeface="Times New Roman" panose="02020603050405020304" pitchFamily="18" charset="0"/>
                <a:cs typeface="Times New Roman" panose="02020603050405020304" pitchFamily="18" charset="0"/>
              </a:rPr>
              <a:t> dataset.</a:t>
            </a:r>
          </a:p>
          <a:p>
            <a:pPr marL="425450" indent="-342900">
              <a:buAutoNum type="arabicPeriod"/>
            </a:pPr>
            <a:endParaRPr lang="en-US" sz="1800" dirty="0">
              <a:latin typeface="Times New Roman" panose="02020603050405020304" pitchFamily="18" charset="0"/>
              <a:cs typeface="Times New Roman" panose="02020603050405020304" pitchFamily="18" charset="0"/>
            </a:endParaRPr>
          </a:p>
          <a:p>
            <a:pPr marL="425450" indent="-342900">
              <a:buAutoNum type="arabicPeriod"/>
            </a:pPr>
            <a:r>
              <a:rPr lang="en-US" sz="1800" b="1" dirty="0">
                <a:latin typeface="Times New Roman" panose="02020603050405020304" pitchFamily="18" charset="0"/>
                <a:cs typeface="Times New Roman" panose="02020603050405020304" pitchFamily="18" charset="0"/>
              </a:rPr>
              <a:t>Alert Module: </a:t>
            </a:r>
            <a:r>
              <a:rPr lang="en-US" sz="1800" dirty="0">
                <a:latin typeface="Times New Roman" panose="02020603050405020304" pitchFamily="18" charset="0"/>
                <a:cs typeface="Times New Roman" panose="02020603050405020304" pitchFamily="18" charset="0"/>
              </a:rPr>
              <a:t>Plays a specific sound to deter detected animals and sends an alert message to the farmer to prevent crop damage.</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296862"/>
            <a:ext cx="7498080" cy="1143000"/>
          </a:xfrm>
        </p:spPr>
        <p:txBody>
          <a:bodyPr>
            <a:normAutofit/>
          </a:bodyPr>
          <a:lstStyle/>
          <a:p>
            <a:r>
              <a:rPr lang="en-US" altLang="en-IN" dirty="0"/>
              <a:t>Sign up/Login</a:t>
            </a:r>
          </a:p>
        </p:txBody>
      </p:sp>
      <p:pic>
        <p:nvPicPr>
          <p:cNvPr id="3" name="Picture 2">
            <a:extLst>
              <a:ext uri="{FF2B5EF4-FFF2-40B4-BE49-F238E27FC236}">
                <a16:creationId xmlns:a16="http://schemas.microsoft.com/office/drawing/2014/main" id="{220FC7AD-03D6-C93F-20E1-5BEC68E998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64126" y="832142"/>
            <a:ext cx="5612130" cy="2835275"/>
          </a:xfrm>
          <a:prstGeom prst="rect">
            <a:avLst/>
          </a:prstGeom>
          <a:noFill/>
          <a:ln>
            <a:noFill/>
          </a:ln>
        </p:spPr>
      </p:pic>
      <p:pic>
        <p:nvPicPr>
          <p:cNvPr id="7" name="Picture 6">
            <a:extLst>
              <a:ext uri="{FF2B5EF4-FFF2-40B4-BE49-F238E27FC236}">
                <a16:creationId xmlns:a16="http://schemas.microsoft.com/office/drawing/2014/main" id="{9B6E9C97-0411-6979-A174-46890AE0E2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3789040"/>
            <a:ext cx="5612130" cy="2870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ym typeface="+mn-ea"/>
              </a:rPr>
              <a:t>Dashboard:</a:t>
            </a:r>
            <a:endParaRPr lang="en-US" altLang="en-IN" dirty="0"/>
          </a:p>
        </p:txBody>
      </p:sp>
      <p:pic>
        <p:nvPicPr>
          <p:cNvPr id="3" name="Picture 2">
            <a:extLst>
              <a:ext uri="{FF2B5EF4-FFF2-40B4-BE49-F238E27FC236}">
                <a16:creationId xmlns:a16="http://schemas.microsoft.com/office/drawing/2014/main" id="{5D37CBCE-4B25-654F-3196-FE447FEC59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7280" y="1988840"/>
            <a:ext cx="7064866" cy="35835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BD891F5-6046-9333-A9D8-F4E61085F9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556792"/>
            <a:ext cx="7593415" cy="4176464"/>
          </a:xfrm>
          <a:prstGeom prst="rect">
            <a:avLst/>
          </a:prstGeom>
          <a:noFill/>
          <a:ln>
            <a:noFill/>
          </a:ln>
        </p:spPr>
      </p:pic>
      <p:sp>
        <p:nvSpPr>
          <p:cNvPr id="2" name="TextBox 1">
            <a:extLst>
              <a:ext uri="{FF2B5EF4-FFF2-40B4-BE49-F238E27FC236}">
                <a16:creationId xmlns:a16="http://schemas.microsoft.com/office/drawing/2014/main" id="{94B6F1BB-872B-956A-D92C-73F20C63A54D}"/>
              </a:ext>
            </a:extLst>
          </p:cNvPr>
          <p:cNvSpPr txBox="1"/>
          <p:nvPr/>
        </p:nvSpPr>
        <p:spPr>
          <a:xfrm>
            <a:off x="1294962" y="548680"/>
            <a:ext cx="5544616" cy="754053"/>
          </a:xfrm>
          <a:prstGeom prst="rect">
            <a:avLst/>
          </a:prstGeom>
          <a:noFill/>
        </p:spPr>
        <p:txBody>
          <a:bodyPr wrap="square" rtlCol="0">
            <a:spAutoFit/>
          </a:bodyPr>
          <a:lstStyle/>
          <a:p>
            <a:r>
              <a:rPr lang="en-US" sz="43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Real Time Detection</a:t>
            </a:r>
            <a:endParaRPr lang="en-IN" sz="4300"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178" y="475933"/>
            <a:ext cx="7498080" cy="1143000"/>
          </a:xfrm>
        </p:spPr>
        <p:txBody>
          <a:bodyPr>
            <a:normAutofit fontScale="90000"/>
          </a:bodyPr>
          <a:lstStyle/>
          <a:p>
            <a:r>
              <a:rPr lang="en-IN" dirty="0"/>
              <a:t> </a:t>
            </a:r>
            <a:br>
              <a:rPr lang="en-IN" dirty="0"/>
            </a:br>
            <a:br>
              <a:rPr lang="en-IN" dirty="0"/>
            </a:br>
            <a:r>
              <a:rPr lang="en-IN" dirty="0"/>
              <a:t>Alert Message</a:t>
            </a:r>
            <a:br>
              <a:rPr lang="en-US" altLang="en-IN" dirty="0"/>
            </a:br>
            <a:endParaRPr lang="en-US" altLang="en-IN" dirty="0"/>
          </a:p>
        </p:txBody>
      </p:sp>
      <p:pic>
        <p:nvPicPr>
          <p:cNvPr id="6" name="Picture 5">
            <a:extLst>
              <a:ext uri="{FF2B5EF4-FFF2-40B4-BE49-F238E27FC236}">
                <a16:creationId xmlns:a16="http://schemas.microsoft.com/office/drawing/2014/main" id="{691CF19D-B8AA-AB1E-DB01-AD2F0AC79F65}"/>
              </a:ext>
            </a:extLst>
          </p:cNvPr>
          <p:cNvPicPr>
            <a:picLocks noChangeAspect="1"/>
          </p:cNvPicPr>
          <p:nvPr/>
        </p:nvPicPr>
        <p:blipFill rotWithShape="1">
          <a:blip r:embed="rId2">
            <a:extLst>
              <a:ext uri="{28A0092B-C50C-407E-A947-70E740481C1C}">
                <a14:useLocalDpi xmlns:a14="http://schemas.microsoft.com/office/drawing/2010/main" val="0"/>
              </a:ext>
            </a:extLst>
          </a:blip>
          <a:srcRect t="68379"/>
          <a:stretch/>
        </p:blipFill>
        <p:spPr bwMode="auto">
          <a:xfrm>
            <a:off x="1979712" y="2227625"/>
            <a:ext cx="6191190" cy="4132714"/>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
          <p:cNvSpPr txBox="1"/>
          <p:nvPr>
            <p:ph type="title"/>
          </p:nvPr>
        </p:nvSpPr>
        <p:spPr>
          <a:xfrm>
            <a:off x="1435608" y="274638"/>
            <a:ext cx="7498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Pros and Cons</a:t>
            </a:r>
            <a:endParaRPr/>
          </a:p>
        </p:txBody>
      </p:sp>
      <p:sp>
        <p:nvSpPr>
          <p:cNvPr id="32" name="Google Shape;32;p1"/>
          <p:cNvSpPr txBox="1"/>
          <p:nvPr>
            <p:ph idx="1" type="body"/>
          </p:nvPr>
        </p:nvSpPr>
        <p:spPr>
          <a:xfrm>
            <a:off x="1435550" y="1417650"/>
            <a:ext cx="7080300" cy="6119100"/>
          </a:xfrm>
          <a:prstGeom prst="rect">
            <a:avLst/>
          </a:prstGeom>
          <a:noFill/>
          <a:ln>
            <a:noFill/>
          </a:ln>
        </p:spPr>
        <p:txBody>
          <a:bodyPr anchorCtr="0" anchor="t" bIns="45700" lIns="91425" spcFirstLastPara="1" rIns="91425" wrap="square" tIns="45700">
            <a:normAutofit lnSpcReduction="20000"/>
          </a:bodyPr>
          <a:lstStyle/>
          <a:p>
            <a:pPr indent="-283210" lvl="0" marL="365760" rtl="0" algn="l">
              <a:lnSpc>
                <a:spcPct val="100000"/>
              </a:lnSpc>
              <a:spcBef>
                <a:spcPts val="0"/>
              </a:spcBef>
              <a:spcAft>
                <a:spcPts val="0"/>
              </a:spcAft>
              <a:buSzPts val="2240"/>
              <a:buChar char="⚫"/>
            </a:pPr>
            <a:r>
              <a:rPr b="1" lang="en-US" sz="2800">
                <a:latin typeface="Times New Roman"/>
                <a:ea typeface="Times New Roman"/>
                <a:cs typeface="Times New Roman"/>
                <a:sym typeface="Times New Roman"/>
              </a:rPr>
              <a:t>Pros</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Real-time detection and response.</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Automated and adaptive deterrent system.</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Alert system</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High accuracy and versatility.</a:t>
            </a:r>
            <a:endParaRPr/>
          </a:p>
          <a:p>
            <a:pPr indent="-283210" lvl="0" marL="365760" rtl="0" algn="l">
              <a:lnSpc>
                <a:spcPct val="100000"/>
              </a:lnSpc>
              <a:spcBef>
                <a:spcPts val="600"/>
              </a:spcBef>
              <a:spcAft>
                <a:spcPts val="0"/>
              </a:spcAft>
              <a:buSzPts val="2240"/>
              <a:buChar char="⚫"/>
            </a:pPr>
            <a:r>
              <a:rPr b="1" lang="en-US" sz="2800">
                <a:latin typeface="Times New Roman"/>
                <a:ea typeface="Times New Roman"/>
                <a:cs typeface="Times New Roman"/>
                <a:sym typeface="Times New Roman"/>
              </a:rPr>
              <a:t>Cons</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High initial setup and cost.</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Requires maintenance and technical knowledge.</a:t>
            </a:r>
            <a:endParaRPr/>
          </a:p>
          <a:p>
            <a:pPr indent="-283210" lvl="0" marL="365760" rtl="0" algn="l">
              <a:lnSpc>
                <a:spcPct val="100000"/>
              </a:lnSpc>
              <a:spcBef>
                <a:spcPts val="600"/>
              </a:spcBef>
              <a:spcAft>
                <a:spcPts val="0"/>
              </a:spcAft>
              <a:buSzPts val="2240"/>
              <a:buFont typeface="Gill Sans"/>
              <a:buAutoNum type="arabicPeriod"/>
            </a:pPr>
            <a:r>
              <a:rPr lang="en-US" sz="2800">
                <a:latin typeface="Times New Roman"/>
                <a:ea typeface="Times New Roman"/>
                <a:cs typeface="Times New Roman"/>
                <a:sym typeface="Times New Roman"/>
              </a:rPr>
              <a:t>Dependence on technology for effectiveness.</a:t>
            </a:r>
            <a:endParaRPr/>
          </a:p>
          <a:p>
            <a:pPr indent="0" lvl="0" marL="82550" rtl="0" algn="l">
              <a:lnSpc>
                <a:spcPct val="100000"/>
              </a:lnSpc>
              <a:spcBef>
                <a:spcPts val="600"/>
              </a:spcBef>
              <a:spcAft>
                <a:spcPts val="0"/>
              </a:spcAft>
              <a:buSzPts val="3200"/>
              <a:buNone/>
            </a:pPr>
            <a:r>
              <a:t/>
            </a:r>
            <a:endParaRPr sz="40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a:xfrm>
            <a:off x="1403648" y="2204864"/>
            <a:ext cx="7498080" cy="3925416"/>
          </a:xfrm>
        </p:spPr>
        <p:txBody>
          <a:bodyPr>
            <a:normAutofit fontScale="97500"/>
          </a:bodyPr>
          <a:lstStyle/>
          <a:p>
            <a:pPr marL="82550" indent="0" algn="just">
              <a:buNone/>
            </a:pPr>
            <a:r>
              <a:rPr lang="en-US" sz="2400" dirty="0">
                <a:latin typeface="Times New Roman" panose="02020603050405020304" pitchFamily="18" charset="0"/>
                <a:cs typeface="Times New Roman" panose="02020603050405020304" pitchFamily="18" charset="0"/>
              </a:rPr>
              <a:t>This system is designed to repel wild animals from entering fields by playing sounds they fear and alerting farmers. It addresses the serious issue of crop vandalization by wild animals while ensuring animal welfare. This system reduces crop loss and the need for manual labor, making it an effective, safe, and affordable solution for farmers. It protects crops without harming animals or humans, helping farmers avoid significant financial losses and unproductive efforts in safeguarding their fields.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735" y="2850515"/>
            <a:ext cx="7498080" cy="1732915"/>
          </a:xfrm>
        </p:spPr>
        <p:txBody>
          <a:bodyPr>
            <a:normAutofit/>
          </a:bodyPr>
          <a:lstStyle/>
          <a:p>
            <a:pPr lvl="5">
              <a:buNone/>
            </a:pPr>
            <a:r>
              <a:rPr lang="en-IN" sz="5400" dirty="0">
                <a:latin typeface="High Tower Text" panose="02040502050506030303" charset="0"/>
                <a:cs typeface="High Tower Text" panose="02040502050506030303" charset="0"/>
              </a:rPr>
              <a:t>THANK YOU</a:t>
            </a:r>
          </a:p>
        </p:txBody>
      </p:sp>
    </p:spTree>
  </p:cSld>
  <p:clrMapOvr>
    <a:masterClrMapping/>
  </p:clrMapOvr>
</p:sld>
</file>

<file path=ppt/tags/tag2.xml><?xml version="1.0" encoding="utf-8"?>
<p:tagLst xmlns:a="http://schemas.openxmlformats.org/drawingml/2006/main" xmlns:r="http://schemas.openxmlformats.org/officeDocument/2006/relationships" xmlns:p="http://schemas.openxmlformats.org/presentationml/2006/main" xmlns:mc="http://schemas.openxmlformats.org/markup-compatibility/2006" xmlns:mv="urn:schemas-microsoft-com:mac:vml">
  <p:tag name="may_ignore_ucw" val="true"/>
  <p:tag name="ppt/slides/slide13.xml" val="2374666543"/>
  <p:tag name="ppt/slides/slide1.xml" val="1027680702"/>
  <p:tag name="ppt/slides/slide2.xml" val="126358301"/>
  <p:tag name="ppt/slides/slide3.xml" val="2377339049"/>
  <p:tag name="ppt/slides/slide4.xml" val="2017095624"/>
  <p:tag name="ppt/slides/slide5.xml" val="1645012917"/>
  <p:tag name="ppt/slides/slide6.xml" val="382436353"/>
  <p:tag name="ppt/slides/slide7.xml" val="713490049"/>
  <p:tag name="ppt/slides/slide8.xml" val="1882560890"/>
  <p:tag name="ppt/slides/slide9.xml" val="3319280713"/>
  <p:tag name="ppt/slides/slide10.xml" val="2275905041"/>
  <p:tag name="ppt/slides/slide11.xml" val="352714747"/>
  <p:tag name="ppt/slides/slide12.xml" val="3900281304"/>
  <p:tag name="ppt/slides/slide14.xml" val="2121404887"/>
  <p:tag name="ppt/slides/slide15.xml" val="3755183167"/>
  <p:tag name="ppt/slideMasters/slideMaster1.xml" val="502176132"/>
  <p:tag name="ppt/slideLayouts/slideLayout1.xml" val="1110092976"/>
  <p:tag name="ppt/slideLayouts/slideLayout2.xml" val="1490402707"/>
  <p:tag name="ppt/slideLayouts/slideLayout3.xml" val="302325725"/>
  <p:tag name="ppt/slideLayouts/slideLayout4.xml" val="2927055615"/>
  <p:tag name="ppt/slideLayouts/slideLayout5.xml" val="3077504770"/>
  <p:tag name="ppt/slideLayouts/slideLayout6.xml" val="3310625830"/>
  <p:tag name="ppt/slideLayouts/slideLayout7.xml" val="2094653411"/>
  <p:tag name="ppt/slideLayouts/slideLayout8.xml" val="1385744945"/>
  <p:tag name="ppt/slideLayouts/slideLayout9.xml" val="167538403"/>
  <p:tag name="ppt/slideLayouts/slideLayout10.xml" val="2006249239"/>
  <p:tag name="ppt/slideLayouts/slideLayout11.xml" val="583619871"/>
  <p:tag name="ppt/theme/theme1.xml" val="91516764"/>
  <p:tag name="ppt/media/image1.jpeg" val="857195657"/>
  <p:tag name="ppt/media/image2.png" val="3915748856"/>
  <p:tag name="ppt/media/image6.jpeg" val="1019636699"/>
  <p:tag name="ppt/media/image4.jpeg" val="2307605882"/>
  <p:tag name="ppt/media/image7.jpeg" val="385235141"/>
  <p:tag name="ppt/media/image3.jpeg" val="3150123029"/>
  <p:tag name="ppt/media/image5.jpeg" val="210475841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